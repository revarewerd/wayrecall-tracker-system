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325" r:id="rId15"/>
    <p:sldId id="326" r:id="rId16"/>
    <p:sldId id="327" r:id="rId17"/>
    <p:sldId id="328" r:id="rId18"/>
    <p:sldId id="329" r:id="rId19"/>
    <p:sldId id="330" r:id="rId20"/>
    <p:sldId id="272" r:id="rId21"/>
    <p:sldId id="331" r:id="rId22"/>
    <p:sldId id="332" r:id="rId23"/>
    <p:sldId id="333" r:id="rId24"/>
    <p:sldId id="334" r:id="rId25"/>
    <p:sldId id="335" r:id="rId26"/>
    <p:sldId id="336" r:id="rId27"/>
    <p:sldId id="338" r:id="rId28"/>
    <p:sldId id="337" r:id="rId29"/>
    <p:sldId id="340" r:id="rId30"/>
    <p:sldId id="341" r:id="rId31"/>
    <p:sldId id="339" r:id="rId32"/>
    <p:sldId id="342" r:id="rId33"/>
    <p:sldId id="343" r:id="rId34"/>
    <p:sldId id="344" r:id="rId35"/>
    <p:sldId id="345" r:id="rId36"/>
    <p:sldId id="346" r:id="rId37"/>
    <p:sldId id="347" r:id="rId38"/>
    <p:sldId id="296" r:id="rId39"/>
    <p:sldId id="298" r:id="rId40"/>
    <p:sldId id="299" r:id="rId4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EBF2-0CC9-4CAC-88A1-FB5D0F00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16048-3121-4065-8F90-171BC5C2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DE5F-4B17-4889-87CA-736C1E03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F2477-59D3-412F-A39B-D33B6B6B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0E3BE-2577-490C-9B17-4B570C2F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95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F155-8F9C-49A7-8892-056888E8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84E6-0F56-4A68-B17B-EF3418AD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F0CD-63C1-4C0A-B841-F8960BB0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B7FB-15F0-45DE-8AFA-6226F6DF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FC764-3DB0-4461-B936-7EDD8195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06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D45B-3B82-4292-B4EF-2EE2AC49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D1552-2559-4B4C-A682-D0B55A94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DB9AA-0F83-4ABE-980E-B2137712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6340-77D7-446D-8CEE-CCDCD9CD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94A29-E5BC-41FB-AF34-F762A211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26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2A4C-8E36-4BCC-AFFA-995530E2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196B-D4F6-475E-BC51-F92437B0A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ED0D3-4839-4F06-A96E-F843725E2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7463A-8606-42C4-AFEA-6913E8D7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2D106-F771-4A9E-B4BA-2ED1D985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24023-BBEB-418C-A219-92412420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06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9C9-9AB3-4BE7-8E79-E4C37B9B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96664-6A70-42D0-9296-8F2211AE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1C532-64EE-4955-A5C2-2A12E514B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D072E-9838-4AAB-B04A-BA5DE38B4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DD6F5-0CD0-406A-9C40-060345CC4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869F2-0F0A-4108-8691-B2B0F52D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ECA9F-5095-4140-9770-7F1CB418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F84B3-E2BD-4C58-ADE7-498687F4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6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0D7F-8BAF-4A7B-B5A6-8EED88A6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ACE3E-8E57-4AE7-B402-FC5A8CD8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CFD41-64BF-48BE-A2C7-1166B16D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C67A7-28B1-446F-9C85-B8E50A9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33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4629F-B6AC-4E35-9FF6-8E14C55C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27D9B-BDAB-4DAB-AE45-E6E5D20D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B795-9A38-45C6-A61E-9A627A5A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39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90E9-A5D1-4083-871E-FC876C90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BC79-BC58-4E01-9114-554E096A3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7A7B7-C401-496F-B616-647E2BF8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943F7-43F5-4711-B905-ED66B98C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6195F-7759-428F-BDC4-15360766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6CB8D-E362-4995-AF51-2C4AA10D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22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F0D9-F847-4B12-B459-23F85B70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FA913-B4BA-45F5-9D80-AD16DCD77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FFFF-54DF-4C23-B55C-8EE71DEBA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6945A-B3E5-49C5-89B2-7B3AB4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8DE0-00FC-4105-A67D-C3309F80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F110-CDE3-4E1E-A6E6-416FABBD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8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72FD-5103-4625-854A-A1D3EE53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EA92F-652D-47D4-AC6F-CC66F476D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4AF7A-A377-45FA-81EB-921A5809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E810B-88A6-4610-A9FB-710E379F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3245-07C4-49A7-9D70-9C682C97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77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E5CFA-F97E-4111-A41C-F72E98D5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BC4FF-57DD-4161-9EF8-B964EDA9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669F3-2451-49DA-8C64-5E11181B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988D-4A43-44BC-8FCD-3D3D75D1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83EE-39DE-4D1B-8EE7-DDE655CA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7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5BE0C-5856-4A3A-8652-187BD643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BD9FF-BD22-4FC4-B966-50A53FB0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79398-18F7-48D4-AA94-7146705EE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6A8B9-896F-4B4D-856B-2140E4B483EC}" type="datetimeFigureOut">
              <a:rPr lang="de-DE" smtClean="0"/>
              <a:t>21.01.2023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C49C2-56DE-46DB-8722-75AD1D732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DAB5-4E6F-4B90-8D3D-59B791489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2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C20ADF-8BDB-490A-ADD4-D4EDC7FA1C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EF19B-DCF0-4720-9569-35B660076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9472"/>
            <a:ext cx="12192000" cy="27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8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A20AF9-71A6-46E9-A727-5ADFB7247E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72E1F6-D152-46B9-A71A-A40EB0DEBDAA}"/>
              </a:ext>
            </a:extLst>
          </p:cNvPr>
          <p:cNvSpPr/>
          <p:nvPr/>
        </p:nvSpPr>
        <p:spPr>
          <a:xfrm>
            <a:off x="550735" y="274701"/>
            <a:ext cx="7926705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Проверить,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идет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запись!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C907D-AF3B-472E-9BF6-44C2CDC171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43960" y="2030476"/>
            <a:ext cx="3972560" cy="396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187703-B19E-47BC-8C1A-F46747548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5D512B-E08A-410B-BAEE-96C029D1FFA6}"/>
              </a:ext>
            </a:extLst>
          </p:cNvPr>
          <p:cNvSpPr txBox="1"/>
          <p:nvPr/>
        </p:nvSpPr>
        <p:spPr>
          <a:xfrm>
            <a:off x="1166070" y="2338475"/>
            <a:ext cx="91737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i="0" u="none" strike="noStrike" baseline="0" dirty="0">
                <a:solidFill>
                  <a:srgbClr val="FFFFFF"/>
                </a:solidFill>
                <a:latin typeface="Roboto-Bold"/>
              </a:rPr>
              <a:t>Меня хорошо видно &amp;&amp; слышно?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Ставьте </a:t>
            </a:r>
            <a:r>
              <a:rPr lang="ru-RU" sz="2400" b="0" i="0" u="none" strike="noStrike" baseline="0" dirty="0">
                <a:solidFill>
                  <a:srgbClr val="FFFFFF"/>
                </a:solidFill>
                <a:latin typeface="Roboto-Regular"/>
              </a:rPr>
              <a:t>+</a:t>
            </a:r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, если все хорошо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Напишите в чат, если есть проблемы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990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BF852-A7D3-452B-87C3-17ADAC8FE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2478339" y="2680132"/>
            <a:ext cx="61584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0" u="none" strike="noStrike" baseline="0" dirty="0" err="1">
                <a:solidFill>
                  <a:srgbClr val="FFFFFF"/>
                </a:solidFill>
                <a:latin typeface="Roboto-Bold"/>
              </a:rPr>
              <a:t>Сats</a:t>
            </a:r>
            <a:r>
              <a:rPr lang="en-US" sz="4000" b="1" i="0" u="none" strike="noStrike" baseline="0" dirty="0">
                <a:solidFill>
                  <a:srgbClr val="FFFFFF"/>
                </a:solidFill>
                <a:latin typeface="Roboto-Bold"/>
              </a:rPr>
              <a:t> core, data types and type classes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287135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3015234" y="3066026"/>
            <a:ext cx="61584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u="none" strike="noStrike" baseline="0" dirty="0">
                <a:solidFill>
                  <a:srgbClr val="FFFFFF"/>
                </a:solidFill>
                <a:latin typeface="Roboto-Bold"/>
              </a:rPr>
              <a:t>Библиотека коллекций</a:t>
            </a:r>
            <a:endParaRPr lang="de-DE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" y="-122174"/>
            <a:ext cx="1219136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69421C-41BB-4B92-A72F-014F068EE84E}"/>
              </a:ext>
            </a:extLst>
          </p:cNvPr>
          <p:cNvSpPr/>
          <p:nvPr/>
        </p:nvSpPr>
        <p:spPr>
          <a:xfrm>
            <a:off x="334772" y="283845"/>
            <a:ext cx="444500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Преподаватель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13B1FE-F13B-4BAD-AE57-3BE3F64AC8E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772" y="1612646"/>
            <a:ext cx="1270635" cy="1694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5D0C83-645D-4722-826B-5916645C03F6}"/>
              </a:ext>
            </a:extLst>
          </p:cNvPr>
          <p:cNvSpPr/>
          <p:nvPr/>
        </p:nvSpPr>
        <p:spPr>
          <a:xfrm>
            <a:off x="2557272" y="1819398"/>
            <a:ext cx="211963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Шилин Валентин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79E631-DA05-459C-AC36-3E1F2A1B52F6}"/>
              </a:ext>
            </a:extLst>
          </p:cNvPr>
          <p:cNvSpPr/>
          <p:nvPr/>
        </p:nvSpPr>
        <p:spPr>
          <a:xfrm>
            <a:off x="2557272" y="2230939"/>
            <a:ext cx="8152765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Старший программист/аналитик данных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Deutsche Telekom IT GmbH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28F0C-15C2-497C-92C9-E285AB28F758}"/>
              </a:ext>
            </a:extLst>
          </p:cNvPr>
          <p:cNvSpPr/>
          <p:nvPr/>
        </p:nvSpPr>
        <p:spPr>
          <a:xfrm>
            <a:off x="2557272" y="2674527"/>
            <a:ext cx="759079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Выпускник СПбГУ П</a:t>
            </a:r>
            <a:r>
              <a:rPr lang="de-DE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M</a:t>
            </a: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-ПУ по специальности "Прикладная математика и физика".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D5C9A-D7A2-4420-AE66-187617052FAD}"/>
              </a:ext>
            </a:extLst>
          </p:cNvPr>
          <p:cNvSpPr/>
          <p:nvPr/>
        </p:nvSpPr>
        <p:spPr>
          <a:xfrm>
            <a:off x="2557272" y="3465641"/>
            <a:ext cx="8686165" cy="6997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Профессиональный опыт: 15 лет программирования на С++, 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</a:t>
            </a:r>
            <a:r>
              <a:rPr lang="en-US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#, JavaScript, Python, Scala, Java.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875A2-EEC2-40CF-A8E4-A2EDD1535C5B}"/>
              </a:ext>
            </a:extLst>
          </p:cNvPr>
          <p:cNvSpPr/>
          <p:nvPr/>
        </p:nvSpPr>
        <p:spPr>
          <a:xfrm>
            <a:off x="2557272" y="4253916"/>
            <a:ext cx="7933690" cy="6623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Эксперт в обработке больших данных с помощью 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Scala/Spark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и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Hadoop Cloudera.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3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A1F29D9-5AE9-40D1-8DC8-567A5FE7A804}"/>
              </a:ext>
            </a:extLst>
          </p:cNvPr>
          <p:cNvSpPr/>
          <p:nvPr/>
        </p:nvSpPr>
        <p:spPr>
          <a:xfrm>
            <a:off x="334645" y="292989"/>
            <a:ext cx="530479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Правила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2FC40D-EA51-43C6-9119-179F7DE7BD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9272" y="1859153"/>
            <a:ext cx="800735" cy="7988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15B4DD-161C-44F4-B6E3-A532F2D639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9272" y="2944560"/>
            <a:ext cx="798830" cy="7988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EB6F6C-CA1B-43F8-8D6B-41A40EC2FF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29272" y="4075304"/>
            <a:ext cx="798830" cy="7988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423773-B7A5-4CE8-8D8E-C2AC277E7E3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29272" y="5206048"/>
            <a:ext cx="798830" cy="7988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B08AD2-41CB-487D-8936-FF4F878AD1DB}"/>
              </a:ext>
            </a:extLst>
          </p:cNvPr>
          <p:cNvSpPr/>
          <p:nvPr/>
        </p:nvSpPr>
        <p:spPr>
          <a:xfrm>
            <a:off x="2425192" y="2105406"/>
            <a:ext cx="33731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Активно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участвуем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A9F7FC-FD45-4F2C-8C0C-A6BE4A4AEAE0}"/>
              </a:ext>
            </a:extLst>
          </p:cNvPr>
          <p:cNvSpPr/>
          <p:nvPr/>
        </p:nvSpPr>
        <p:spPr>
          <a:xfrm>
            <a:off x="2425192" y="3110865"/>
            <a:ext cx="593661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голосом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287D1B-2637-4CC0-8A01-697430E3877B}"/>
              </a:ext>
            </a:extLst>
          </p:cNvPr>
          <p:cNvSpPr/>
          <p:nvPr/>
        </p:nvSpPr>
        <p:spPr>
          <a:xfrm>
            <a:off x="2425192" y="4241738"/>
            <a:ext cx="97612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Off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topic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обсуждаем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Slack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#канал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группы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general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9FA747-7FEF-4B8C-B180-9A7D5D990AB7}"/>
              </a:ext>
            </a:extLst>
          </p:cNvPr>
          <p:cNvSpPr/>
          <p:nvPr/>
        </p:nvSpPr>
        <p:spPr>
          <a:xfrm>
            <a:off x="2425192" y="5372611"/>
            <a:ext cx="789940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вижу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чате,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могу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ответить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не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сразу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3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D4B3999-86D9-4E34-A8C3-EAE3526F4091}"/>
              </a:ext>
            </a:extLst>
          </p:cNvPr>
          <p:cNvSpPr/>
          <p:nvPr/>
        </p:nvSpPr>
        <p:spPr>
          <a:xfrm>
            <a:off x="269494" y="302133"/>
            <a:ext cx="1295146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Давайте</a:t>
            </a:r>
            <a:r>
              <a:rPr lang="ru-RU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познакомимся.</a:t>
            </a:r>
            <a:r>
              <a:rPr lang="ru-RU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ru-RU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вы</a:t>
            </a:r>
            <a:r>
              <a:rPr lang="ru-RU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уже</a:t>
            </a:r>
            <a:r>
              <a:rPr lang="ru-RU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узнали?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0D9C0A-DEEA-43FB-8B21-89462165DE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5264" y="3137470"/>
            <a:ext cx="800735" cy="7988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3FE597-B969-40F0-8BD9-D9BD93208F6B}"/>
              </a:ext>
            </a:extLst>
          </p:cNvPr>
          <p:cNvSpPr/>
          <p:nvPr/>
        </p:nvSpPr>
        <p:spPr>
          <a:xfrm>
            <a:off x="2906712" y="2672016"/>
            <a:ext cx="336105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успели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узнать?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392CFC-3AD5-4709-877A-242A683BE591}"/>
              </a:ext>
            </a:extLst>
          </p:cNvPr>
          <p:cNvSpPr/>
          <p:nvPr/>
        </p:nvSpPr>
        <p:spPr>
          <a:xfrm>
            <a:off x="2906712" y="3319398"/>
            <a:ext cx="205422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Нравиться?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B9AEF4-420E-47AF-8DCA-4EF00DEE37FB}"/>
              </a:ext>
            </a:extLst>
          </p:cNvPr>
          <p:cNvSpPr/>
          <p:nvPr/>
        </p:nvSpPr>
        <p:spPr>
          <a:xfrm>
            <a:off x="2906712" y="4006342"/>
            <a:ext cx="154940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Сложно?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1F12D-80EF-42F3-8EBC-40AD85D73B16}"/>
              </a:ext>
            </a:extLst>
          </p:cNvPr>
          <p:cNvSpPr/>
          <p:nvPr/>
        </p:nvSpPr>
        <p:spPr>
          <a:xfrm>
            <a:off x="4960937" y="1813368"/>
            <a:ext cx="493903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чате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поднимайте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руку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95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5597525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Цели</a:t>
            </a:r>
            <a:r>
              <a:rPr lang="de-DE" sz="4500" b="1" spc="10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45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</a:t>
            </a:r>
            <a:r>
              <a:rPr lang="de-DE" sz="4500" b="1" spc="10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B84B3-F2F1-4A08-96DE-21AA9B40AA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0179" y="1415097"/>
            <a:ext cx="5279109" cy="17195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DD7F6B-1342-4FCD-8EDE-1AD31D5A6D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0179" y="3096924"/>
            <a:ext cx="5279109" cy="17195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CC68DA-9791-4982-91AA-FC7E01FAB59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0179" y="4868323"/>
            <a:ext cx="5279109" cy="17195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FBCF142-37AD-4766-A418-55DFB4AEA60F}"/>
              </a:ext>
            </a:extLst>
          </p:cNvPr>
          <p:cNvSpPr/>
          <p:nvPr/>
        </p:nvSpPr>
        <p:spPr>
          <a:xfrm>
            <a:off x="452311" y="1774430"/>
            <a:ext cx="4329414" cy="5645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Экосистема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cats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F87231-0208-43C2-A5CA-F9C8A02D2F70}"/>
              </a:ext>
            </a:extLst>
          </p:cNvPr>
          <p:cNvSpPr/>
          <p:nvPr/>
        </p:nvSpPr>
        <p:spPr>
          <a:xfrm>
            <a:off x="523376" y="3554218"/>
            <a:ext cx="4380230" cy="5645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Структура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cats</a:t>
            </a:r>
            <a:endParaRPr lang="de-DE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567D85-B0D8-45CB-9898-DFBDE856B7AD}"/>
              </a:ext>
            </a:extLst>
          </p:cNvPr>
          <p:cNvSpPr/>
          <p:nvPr/>
        </p:nvSpPr>
        <p:spPr>
          <a:xfrm>
            <a:off x="452311" y="5287864"/>
            <a:ext cx="4522361" cy="9367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Data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types</a:t>
            </a:r>
            <a:r>
              <a:rPr lang="de-DE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cats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508904-78BE-FD6E-7245-FE5747A4EA8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05482" y="1413514"/>
            <a:ext cx="5279109" cy="17195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7AF9E5-5E66-4DD7-087D-07808B245C9E}"/>
              </a:ext>
            </a:extLst>
          </p:cNvPr>
          <p:cNvSpPr/>
          <p:nvPr/>
        </p:nvSpPr>
        <p:spPr>
          <a:xfrm>
            <a:off x="6334392" y="1774429"/>
            <a:ext cx="4329414" cy="5645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Type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classes</a:t>
            </a:r>
            <a:r>
              <a:rPr lang="de-DE" sz="24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</a:t>
            </a:r>
            <a:r>
              <a:rPr lang="de-DE" sz="2400" b="1" dirty="0" err="1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cats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818701" y="2680132"/>
            <a:ext cx="7009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Экосистема </a:t>
            </a:r>
            <a:r>
              <a:rPr lang="de-DE" sz="5400" b="1" i="0" u="none" strike="noStrike" baseline="0" dirty="0" err="1">
                <a:solidFill>
                  <a:srgbClr val="FFFFFF"/>
                </a:solidFill>
                <a:latin typeface="Roboto-Bold"/>
              </a:rPr>
              <a:t>cats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84900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3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Экосистема </a:t>
            </a:r>
            <a:r>
              <a:rPr lang="de-DE" sz="3300" b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BE5828-3972-883D-47A3-B5AD49A7F386}"/>
              </a:ext>
            </a:extLst>
          </p:cNvPr>
          <p:cNvSpPr txBox="1"/>
          <p:nvPr/>
        </p:nvSpPr>
        <p:spPr>
          <a:xfrm>
            <a:off x="153100" y="1525970"/>
            <a:ext cx="7774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● </a:t>
            </a:r>
            <a:r>
              <a:rPr lang="de-DE" dirty="0" err="1"/>
              <a:t>май</a:t>
            </a:r>
            <a:r>
              <a:rPr lang="de-DE" dirty="0"/>
              <a:t> 2007 - </a:t>
            </a:r>
            <a:r>
              <a:rPr lang="de-DE" dirty="0" err="1"/>
              <a:t>релиз</a:t>
            </a:r>
            <a:r>
              <a:rPr lang="de-DE" dirty="0"/>
              <a:t> Scala 2.5 с </a:t>
            </a:r>
            <a:r>
              <a:rPr lang="de-DE" dirty="0" err="1"/>
              <a:t>типами</a:t>
            </a:r>
            <a:r>
              <a:rPr lang="de-DE" dirty="0"/>
              <a:t> </a:t>
            </a:r>
            <a:r>
              <a:rPr lang="de-DE" dirty="0" err="1"/>
              <a:t>высшего</a:t>
            </a:r>
            <a:r>
              <a:rPr lang="de-DE" dirty="0"/>
              <a:t> </a:t>
            </a:r>
            <a:r>
              <a:rPr lang="de-DE" dirty="0" err="1"/>
              <a:t>порядка</a:t>
            </a:r>
            <a:r>
              <a:rPr lang="de-DE" dirty="0"/>
              <a:t> (Higher </a:t>
            </a:r>
            <a:r>
              <a:rPr lang="de-DE" dirty="0" err="1"/>
              <a:t>Kinded</a:t>
            </a:r>
            <a:r>
              <a:rPr lang="de-DE" dirty="0"/>
              <a:t>)</a:t>
            </a:r>
          </a:p>
          <a:p>
            <a:r>
              <a:rPr lang="de-DE" dirty="0"/>
              <a:t>● </a:t>
            </a:r>
            <a:r>
              <a:rPr lang="de-DE" dirty="0" err="1"/>
              <a:t>конец</a:t>
            </a:r>
            <a:r>
              <a:rPr lang="de-DE" dirty="0"/>
              <a:t> 2007 - </a:t>
            </a:r>
            <a:r>
              <a:rPr lang="de-DE" dirty="0" err="1"/>
              <a:t>перв</a:t>
            </a:r>
            <a:r>
              <a:rPr lang="ru-RU" dirty="0"/>
              <a:t>ы</a:t>
            </a:r>
            <a:r>
              <a:rPr lang="de-DE" dirty="0"/>
              <a:t>й </a:t>
            </a:r>
            <a:r>
              <a:rPr lang="de-DE" dirty="0" err="1"/>
              <a:t>релиз</a:t>
            </a:r>
            <a:r>
              <a:rPr lang="de-DE" dirty="0"/>
              <a:t> </a:t>
            </a:r>
            <a:r>
              <a:rPr lang="de-DE" dirty="0" err="1"/>
              <a:t>scalaz</a:t>
            </a:r>
            <a:endParaRPr lang="de-DE" dirty="0"/>
          </a:p>
          <a:p>
            <a:r>
              <a:rPr lang="de-DE" dirty="0"/>
              <a:t>● </a:t>
            </a:r>
            <a:r>
              <a:rPr lang="de-DE" dirty="0" err="1"/>
              <a:t>апрел</a:t>
            </a:r>
            <a:r>
              <a:rPr lang="ru-RU" dirty="0"/>
              <a:t>ь</a:t>
            </a:r>
            <a:r>
              <a:rPr lang="de-DE" dirty="0"/>
              <a:t> 2013 - </a:t>
            </a:r>
            <a:r>
              <a:rPr lang="de-DE" dirty="0" err="1"/>
              <a:t>релиз</a:t>
            </a:r>
            <a:r>
              <a:rPr lang="de-DE" dirty="0"/>
              <a:t> </a:t>
            </a:r>
            <a:r>
              <a:rPr lang="de-DE" dirty="0" err="1"/>
              <a:t>scalaz</a:t>
            </a:r>
            <a:r>
              <a:rPr lang="de-DE" dirty="0"/>
              <a:t> 7.0</a:t>
            </a:r>
          </a:p>
          <a:p>
            <a:r>
              <a:rPr lang="de-DE" dirty="0"/>
              <a:t>● </a:t>
            </a:r>
            <a:r>
              <a:rPr lang="de-DE" dirty="0" err="1"/>
              <a:t>окт</a:t>
            </a:r>
            <a:r>
              <a:rPr lang="ru-RU" dirty="0"/>
              <a:t>я</a:t>
            </a:r>
            <a:r>
              <a:rPr lang="de-DE" dirty="0" err="1"/>
              <a:t>бр</a:t>
            </a:r>
            <a:r>
              <a:rPr lang="ru-RU" dirty="0"/>
              <a:t>ь</a:t>
            </a:r>
            <a:r>
              <a:rPr lang="de-DE" dirty="0"/>
              <a:t> 2014 - </a:t>
            </a:r>
            <a:r>
              <a:rPr lang="de-DE" dirty="0" err="1"/>
              <a:t>начало</a:t>
            </a:r>
            <a:r>
              <a:rPr lang="de-DE" dirty="0"/>
              <a:t> </a:t>
            </a:r>
            <a:r>
              <a:rPr lang="de-DE" dirty="0" err="1"/>
              <a:t>Typelevel</a:t>
            </a:r>
            <a:endParaRPr lang="de-DE" dirty="0"/>
          </a:p>
          <a:p>
            <a:r>
              <a:rPr lang="de-DE" dirty="0"/>
              <a:t>● и</a:t>
            </a:r>
            <a:r>
              <a:rPr lang="ru-RU" dirty="0"/>
              <a:t>ю</a:t>
            </a:r>
            <a:r>
              <a:rPr lang="de-DE" dirty="0"/>
              <a:t>л</a:t>
            </a:r>
            <a:r>
              <a:rPr lang="ru-RU" dirty="0"/>
              <a:t>ь</a:t>
            </a:r>
            <a:r>
              <a:rPr lang="de-DE" dirty="0"/>
              <a:t> 2015 - </a:t>
            </a:r>
            <a:r>
              <a:rPr lang="de-DE" dirty="0" err="1"/>
              <a:t>релиз</a:t>
            </a:r>
            <a:r>
              <a:rPr lang="de-DE" dirty="0"/>
              <a:t> </a:t>
            </a:r>
            <a:r>
              <a:rPr lang="de-DE" dirty="0" err="1"/>
              <a:t>cats</a:t>
            </a:r>
            <a:r>
              <a:rPr lang="de-DE" dirty="0"/>
              <a:t> 0.1.0</a:t>
            </a:r>
          </a:p>
          <a:p>
            <a:r>
              <a:rPr lang="de-DE" dirty="0"/>
              <a:t>● </a:t>
            </a:r>
            <a:r>
              <a:rPr lang="de-DE" dirty="0" err="1"/>
              <a:t>март</a:t>
            </a:r>
            <a:r>
              <a:rPr lang="de-DE" dirty="0"/>
              <a:t> 2017 - “</a:t>
            </a:r>
            <a:r>
              <a:rPr lang="de-DE" dirty="0" err="1"/>
              <a:t>Standardizing</a:t>
            </a:r>
            <a:r>
              <a:rPr lang="de-DE" dirty="0"/>
              <a:t> on Cats</a:t>
            </a:r>
          </a:p>
          <a:p>
            <a:r>
              <a:rPr lang="de-DE" dirty="0"/>
              <a:t>● </a:t>
            </a:r>
            <a:r>
              <a:rPr lang="de-DE" dirty="0" err="1"/>
              <a:t>декабр</a:t>
            </a:r>
            <a:r>
              <a:rPr lang="ru-RU" dirty="0"/>
              <a:t>ь</a:t>
            </a:r>
            <a:r>
              <a:rPr lang="de-DE" dirty="0"/>
              <a:t> 2017 - Cats 1.0.0</a:t>
            </a:r>
          </a:p>
        </p:txBody>
      </p:sp>
    </p:spTree>
    <p:extLst>
      <p:ext uri="{BB962C8B-B14F-4D97-AF65-F5344CB8AC3E}">
        <p14:creationId xmlns:p14="http://schemas.microsoft.com/office/powerpoint/2010/main" val="2673149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3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Экосистема </a:t>
            </a:r>
            <a:r>
              <a:rPr lang="de-DE" sz="3300" b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420D3-16CA-705A-7A83-B9F2B041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87" y="1261872"/>
            <a:ext cx="10155477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0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818701" y="2680132"/>
            <a:ext cx="7009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FFFFFF"/>
                </a:solidFill>
                <a:latin typeface="Roboto-Bold"/>
              </a:rPr>
              <a:t>Типы данных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148280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Cats.data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C1D56-885F-37BE-10A4-E621033CA3BF}"/>
              </a:ext>
            </a:extLst>
          </p:cNvPr>
          <p:cNvSpPr txBox="1"/>
          <p:nvPr/>
        </p:nvSpPr>
        <p:spPr>
          <a:xfrm>
            <a:off x="140515" y="1426019"/>
            <a:ext cx="97584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Коллекции</a:t>
            </a:r>
          </a:p>
          <a:p>
            <a:pPr marL="342900" indent="-342900">
              <a:buAutoNum type="arabicPeriod"/>
            </a:pPr>
            <a:r>
              <a:rPr lang="ru-RU" dirty="0"/>
              <a:t>Валидация</a:t>
            </a:r>
          </a:p>
          <a:p>
            <a:pPr marL="342900" indent="-342900">
              <a:buAutoNum type="arabicPeriod"/>
            </a:pPr>
            <a:r>
              <a:rPr lang="ru-RU" dirty="0"/>
              <a:t>Функциональные</a:t>
            </a:r>
            <a:r>
              <a:rPr lang="en-US" dirty="0"/>
              <a:t> – </a:t>
            </a:r>
            <a:r>
              <a:rPr lang="ru-RU" dirty="0"/>
              <a:t>абстракции, для абстрагирования над функциями и композициями</a:t>
            </a:r>
          </a:p>
          <a:p>
            <a:pPr marL="342900" indent="-342900">
              <a:buAutoNum type="arabicPeriod"/>
            </a:pPr>
            <a:r>
              <a:rPr lang="ru-RU" dirty="0"/>
              <a:t>Трансформеры монад</a:t>
            </a:r>
          </a:p>
          <a:p>
            <a:pPr marL="342900" indent="-342900">
              <a:buAutoNum type="arabicPeriod"/>
            </a:pPr>
            <a:r>
              <a:rPr lang="ru-RU" dirty="0"/>
              <a:t>дополнительные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2640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818701" y="2680132"/>
            <a:ext cx="7009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33913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2906B-1609-B7C5-BE48-757446B5D6AA}"/>
              </a:ext>
            </a:extLst>
          </p:cNvPr>
          <p:cNvSpPr txBox="1"/>
          <p:nvPr/>
        </p:nvSpPr>
        <p:spPr>
          <a:xfrm>
            <a:off x="249573" y="1479803"/>
            <a:ext cx="6153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Chain</a:t>
            </a:r>
          </a:p>
          <a:p>
            <a:pPr marL="342900" indent="-342900">
              <a:buAutoNum type="arabicPeriod"/>
            </a:pPr>
            <a:r>
              <a:rPr lang="de-DE" dirty="0" err="1"/>
              <a:t>NonEmptyChain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NonEmptyList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695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cats.data.Chain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5822C-A173-9AAD-7552-E89192971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62087"/>
            <a:ext cx="11811000" cy="3933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77544-BCC3-1C5F-8210-759156A316AE}"/>
              </a:ext>
            </a:extLst>
          </p:cNvPr>
          <p:cNvSpPr txBox="1"/>
          <p:nvPr/>
        </p:nvSpPr>
        <p:spPr>
          <a:xfrm>
            <a:off x="190500" y="5637293"/>
            <a:ext cx="6153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Константное время на добавление в голову и в хвост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6240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422477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Валидация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738156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2906B-1609-B7C5-BE48-757446B5D6AA}"/>
              </a:ext>
            </a:extLst>
          </p:cNvPr>
          <p:cNvSpPr txBox="1"/>
          <p:nvPr/>
        </p:nvSpPr>
        <p:spPr>
          <a:xfrm>
            <a:off x="249573" y="1479803"/>
            <a:ext cx="6153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Validation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IoR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7502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5099657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Cats.data.Validation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7869A-0E38-718A-4123-41A53868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75" y="1444304"/>
            <a:ext cx="11430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3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11860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5099657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Cats.data.IoR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774C5-ADD1-0AD6-9EF3-48A9B0AC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7" y="1422237"/>
            <a:ext cx="113442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8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1656229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1493240" y="2680132"/>
            <a:ext cx="83348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FFFFFF"/>
                </a:solidFill>
                <a:latin typeface="Roboto-Bold"/>
              </a:rPr>
              <a:t>Функциональные типы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497372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2906B-1609-B7C5-BE48-757446B5D6AA}"/>
              </a:ext>
            </a:extLst>
          </p:cNvPr>
          <p:cNvSpPr txBox="1"/>
          <p:nvPr/>
        </p:nvSpPr>
        <p:spPr>
          <a:xfrm>
            <a:off x="249573" y="1479803"/>
            <a:ext cx="6153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Kleisli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Writer </a:t>
            </a:r>
          </a:p>
          <a:p>
            <a:pPr marL="342900" indent="-342900">
              <a:buAutoNum type="arabicPeriod"/>
            </a:pPr>
            <a:r>
              <a:rPr lang="de-DE" dirty="0"/>
              <a:t>State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8937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Cats.data.Kleisli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AA2F-A2DF-C68E-5A44-EC066212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8" y="1261872"/>
            <a:ext cx="85915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10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72748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Трансформеры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452750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 err="1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Cats.data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FD7CF-6A14-1928-7894-EC8F43ACC8DB}"/>
              </a:ext>
            </a:extLst>
          </p:cNvPr>
          <p:cNvSpPr txBox="1"/>
          <p:nvPr/>
        </p:nvSpPr>
        <p:spPr>
          <a:xfrm>
            <a:off x="249573" y="1479803"/>
            <a:ext cx="6153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OptionT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ReaderT</a:t>
            </a:r>
            <a:r>
              <a:rPr lang="de-DE" dirty="0"/>
              <a:t> </a:t>
            </a:r>
          </a:p>
          <a:p>
            <a:pPr marL="342900" indent="-342900">
              <a:buAutoNum type="arabicPeriod"/>
            </a:pPr>
            <a:r>
              <a:rPr lang="de-DE" dirty="0" err="1"/>
              <a:t>StateT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4198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753134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1493240" y="2680132"/>
            <a:ext cx="83348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Roboto-Bold"/>
              </a:rPr>
              <a:t>Cats Type classes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582743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 Type classes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FD7CF-6A14-1928-7894-EC8F43ACC8DB}"/>
              </a:ext>
            </a:extLst>
          </p:cNvPr>
          <p:cNvSpPr txBox="1"/>
          <p:nvPr/>
        </p:nvSpPr>
        <p:spPr>
          <a:xfrm>
            <a:off x="249573" y="1479803"/>
            <a:ext cx="6153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Semigroup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 err="1"/>
              <a:t>Monoid</a:t>
            </a:r>
            <a:r>
              <a:rPr lang="de-DE" dirty="0"/>
              <a:t> </a:t>
            </a:r>
          </a:p>
          <a:p>
            <a:pPr marL="342900" indent="-342900">
              <a:buAutoNum type="arabicPeriod"/>
            </a:pPr>
            <a:r>
              <a:rPr lang="de-DE" dirty="0" err="1"/>
              <a:t>Functor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4034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7" y="319786"/>
            <a:ext cx="3681918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3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Cats Type classes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0AACE-DA9E-323B-785D-BB647BD19D72}"/>
              </a:ext>
            </a:extLst>
          </p:cNvPr>
          <p:cNvSpPr txBox="1"/>
          <p:nvPr/>
        </p:nvSpPr>
        <p:spPr>
          <a:xfrm>
            <a:off x="249573" y="1479803"/>
            <a:ext cx="99011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Интерфейс</a:t>
            </a:r>
            <a:endParaRPr lang="de-DE" dirty="0"/>
          </a:p>
          <a:p>
            <a:pPr marL="342900" indent="-342900">
              <a:buAutoNum type="arabicPeriod"/>
            </a:pPr>
            <a:r>
              <a:rPr lang="ru-RU" dirty="0"/>
              <a:t>Инстансы (</a:t>
            </a:r>
            <a:r>
              <a:rPr lang="ru-RU" dirty="0" err="1"/>
              <a:t>обьявляем</a:t>
            </a:r>
            <a:r>
              <a:rPr lang="ru-RU" dirty="0"/>
              <a:t> с помощью </a:t>
            </a:r>
            <a:r>
              <a:rPr lang="en-US" dirty="0" err="1"/>
              <a:t>implicits</a:t>
            </a:r>
            <a:r>
              <a:rPr lang="ru-RU" dirty="0"/>
              <a:t>)</a:t>
            </a:r>
            <a:r>
              <a:rPr lang="de-DE" dirty="0"/>
              <a:t> </a:t>
            </a:r>
          </a:p>
          <a:p>
            <a:pPr marL="342900" indent="-342900">
              <a:buAutoNum type="arabicPeriod"/>
            </a:pPr>
            <a:r>
              <a:rPr lang="ru-RU" dirty="0"/>
              <a:t>Комбинаторы (для комбинации </a:t>
            </a:r>
            <a:r>
              <a:rPr lang="en-US" dirty="0"/>
              <a:t>type classes </a:t>
            </a:r>
            <a:r>
              <a:rPr lang="ru-RU" dirty="0"/>
              <a:t>)</a:t>
            </a:r>
          </a:p>
          <a:p>
            <a:pPr marL="342900" indent="-342900">
              <a:buAutoNum type="arabicPeriod"/>
            </a:pPr>
            <a:r>
              <a:rPr lang="ru-RU" dirty="0"/>
              <a:t>Синтаксис</a:t>
            </a:r>
          </a:p>
          <a:p>
            <a:pPr marL="342900" indent="-342900">
              <a:buAutoNum type="arabicPeriod"/>
            </a:pPr>
            <a:r>
              <a:rPr lang="ru-RU" dirty="0"/>
              <a:t>Законы (для </a:t>
            </a:r>
            <a:r>
              <a:rPr lang="en-US" dirty="0"/>
              <a:t>cats type classes </a:t>
            </a:r>
            <a:r>
              <a:rPr lang="ru-RU" dirty="0"/>
              <a:t>есть законы, относительно законов написаны тесты </a:t>
            </a:r>
            <a:r>
              <a:rPr lang="ru-RU" dirty="0" err="1"/>
              <a:t>гарантирущие</a:t>
            </a:r>
            <a:r>
              <a:rPr lang="ru-RU" dirty="0"/>
              <a:t> свойства)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541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4E6B41-DBA6-43C6-BA66-F9B4113E5A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54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4164165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6B7960-CDC6-4813-884B-081BD3F8ABEB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u="none" strike="noStrike" baseline="0" dirty="0">
                <a:solidFill>
                  <a:srgbClr val="FFFFFF"/>
                </a:solidFill>
                <a:latin typeface="Roboto-Bold"/>
              </a:rPr>
              <a:t>TEST</a:t>
            </a:r>
            <a:endParaRPr lang="de-DE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DA439-0B49-4509-9B3F-EDD46F5CD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0E857-0CE3-4E4E-9C80-EEC13EA825F6}"/>
              </a:ext>
            </a:extLst>
          </p:cNvPr>
          <p:cNvSpPr txBox="1"/>
          <p:nvPr/>
        </p:nvSpPr>
        <p:spPr>
          <a:xfrm>
            <a:off x="180975" y="320159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300" b="1" i="0" u="none" strike="noStrike" baseline="0" dirty="0">
                <a:solidFill>
                  <a:srgbClr val="FFFFFF"/>
                </a:solidFill>
                <a:latin typeface="+mj-lt"/>
              </a:rPr>
              <a:t>Рефлексия</a:t>
            </a:r>
            <a:endParaRPr lang="de-DE" sz="33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DDA28-82B4-4057-9E80-A83138893E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43574" y="2514600"/>
            <a:ext cx="914400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F42D26-0563-4C83-88FB-8174C2C5F103}"/>
              </a:ext>
            </a:extLst>
          </p:cNvPr>
          <p:cNvSpPr/>
          <p:nvPr/>
        </p:nvSpPr>
        <p:spPr>
          <a:xfrm>
            <a:off x="1807099" y="3879451"/>
            <a:ext cx="650875" cy="13512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8000" dirty="0">
                <a:solidFill>
                  <a:srgbClr val="40CDD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?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54735-3E0C-4D26-AFE4-B376EE3B90F2}"/>
              </a:ext>
            </a:extLst>
          </p:cNvPr>
          <p:cNvSpPr/>
          <p:nvPr/>
        </p:nvSpPr>
        <p:spPr>
          <a:xfrm>
            <a:off x="2623185" y="2800985"/>
            <a:ext cx="643128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нового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узнали?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Напиши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4060B1-D52B-4F44-8DE0-9A4E26E04772}"/>
              </a:ext>
            </a:extLst>
          </p:cNvPr>
          <p:cNvSpPr/>
          <p:nvPr/>
        </p:nvSpPr>
        <p:spPr>
          <a:xfrm>
            <a:off x="2623185" y="4317601"/>
            <a:ext cx="613664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Достигли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вы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цели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42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2862263" y="2110472"/>
            <a:ext cx="616267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Заполните, пожалуйста,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опрос о занятии по ссылке в чате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985471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1085851" y="2388364"/>
            <a:ext cx="10506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Спасибо за внимание!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Приходите на следующие вебинары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82106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0BC2E649F2C44482282C59DDDA9454" ma:contentTypeVersion="2" ma:contentTypeDescription="Ein neues Dokument erstellen." ma:contentTypeScope="" ma:versionID="c70ddfe4c3bc23b62021c1070b587bf9">
  <xsd:schema xmlns:xsd="http://www.w3.org/2001/XMLSchema" xmlns:xs="http://www.w3.org/2001/XMLSchema" xmlns:p="http://schemas.microsoft.com/office/2006/metadata/properties" xmlns:ns3="0cb1349b-4159-4f35-a4f5-859a8aff3356" targetNamespace="http://schemas.microsoft.com/office/2006/metadata/properties" ma:root="true" ma:fieldsID="32bfd9579da61a84111083067ffc1aff" ns3:_="">
    <xsd:import namespace="0cb1349b-4159-4f35-a4f5-859a8aff33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1349b-4159-4f35-a4f5-859a8aff3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77DC07-AB80-44E7-8F99-2857C86B4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7544-B1F8-4D62-AF60-FCECDE9FE73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cb1349b-4159-4f35-a4f5-859a8aff335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0F815F8-B163-4C9D-A583-6FF696F94C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1349b-4159-4f35-a4f5-859a8aff33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108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Comic Sans MS</vt:lpstr>
      <vt:lpstr>Roboto-Bold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Shilin, Valentin</dc:creator>
  <cp:lastModifiedBy>Valentin Shilin</cp:lastModifiedBy>
  <cp:revision>37</cp:revision>
  <dcterms:created xsi:type="dcterms:W3CDTF">2022-07-14T07:54:11Z</dcterms:created>
  <dcterms:modified xsi:type="dcterms:W3CDTF">2023-01-22T11:22:28Z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0x0101005B0BC2E649F2C44482282C59DDDA9454</vt:lpwstr>
  </property>
</Properties>
</file>